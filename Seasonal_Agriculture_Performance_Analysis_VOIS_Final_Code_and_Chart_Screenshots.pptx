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5"/>
  </p:notesMasterIdLst>
  <p:handoutMasterIdLst>
    <p:handoutMasterId r:id="rId26"/>
  </p:handoutMasterIdLst>
  <p:sldIdLst>
    <p:sldId id="338" r:id="rId5"/>
    <p:sldId id="327" r:id="rId6"/>
    <p:sldId id="315" r:id="rId7"/>
    <p:sldId id="329" r:id="rId8"/>
    <p:sldId id="302" r:id="rId9"/>
    <p:sldId id="351" r:id="rId10"/>
    <p:sldId id="354" r:id="rId11"/>
    <p:sldId id="355" r:id="rId12"/>
    <p:sldId id="340" r:id="rId13"/>
    <p:sldId id="344" r:id="rId14"/>
    <p:sldId id="345" r:id="rId15"/>
    <p:sldId id="346" r:id="rId16"/>
    <p:sldId id="347" r:id="rId17"/>
    <p:sldId id="348" r:id="rId18"/>
    <p:sldId id="349" r:id="rId19"/>
    <p:sldId id="350" r:id="rId20"/>
    <p:sldId id="341" r:id="rId21"/>
    <p:sldId id="342" r:id="rId22"/>
    <p:sldId id="343" r:id="rId23"/>
    <p:sldId id="30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117" d="100"/>
          <a:sy n="117" d="100"/>
        </p:scale>
        <p:origin x="234" y="10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898320" y="3429000"/>
            <a:ext cx="6814639" cy="1016411"/>
          </a:xfrm>
        </p:spPr>
        <p:txBody>
          <a:bodyPr vert="horz" lIns="91440" tIns="45720" rIns="91440" bIns="45720" rtlCol="0" anchor="t">
            <a:normAutofit fontScale="77500" lnSpcReduction="20000"/>
          </a:bodyPr>
          <a:lstStyle/>
          <a:p>
            <a:pPr algn="r"/>
            <a:r>
              <a:rPr lang="en-US" b="0" dirty="0">
                <a:solidFill>
                  <a:schemeClr val="tx1"/>
                </a:solidFill>
              </a:rPr>
              <a:t>Student Name –</a:t>
            </a:r>
            <a:r>
              <a:rPr lang="en-US" sz="2800" b="0" i="1" u="sng" dirty="0">
                <a:solidFill>
                  <a:schemeClr val="tx1"/>
                </a:solidFill>
              </a:rPr>
              <a:t>Pawan Tiwari</a:t>
            </a:r>
            <a:endParaRPr lang="en-IN" sz="2800" b="0" i="1" u="sng" dirty="0">
              <a:solidFill>
                <a:schemeClr val="tx1"/>
              </a:solidFill>
            </a:endParaRPr>
          </a:p>
          <a:p>
            <a:pPr algn="r"/>
            <a:r>
              <a:rPr lang="en-US" b="0" dirty="0">
                <a:solidFill>
                  <a:schemeClr val="tx1"/>
                </a:solidFill>
              </a:rPr>
              <a:t>College Name- </a:t>
            </a:r>
            <a:r>
              <a:rPr lang="en-US" sz="2600" b="0" i="1" u="sng" dirty="0" err="1">
                <a:solidFill>
                  <a:schemeClr val="tx1"/>
                </a:solidFill>
              </a:rPr>
              <a:t>Ambalika</a:t>
            </a:r>
            <a:r>
              <a:rPr lang="en-US" sz="2600" b="0" i="1" u="sng" dirty="0">
                <a:solidFill>
                  <a:schemeClr val="tx1"/>
                </a:solidFill>
              </a:rPr>
              <a:t> Institute Of Management &amp;Technology </a:t>
            </a:r>
            <a:endParaRPr lang="en-IN" sz="2600" b="0" i="1" u="sng"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10408736" cy="743448"/>
          </a:xfrm>
        </p:spPr>
        <p:txBody>
          <a:bodyPr>
            <a:normAutofit fontScale="90000"/>
          </a:bodyPr>
          <a:lstStyle/>
          <a:p>
            <a:r>
              <a:rPr lang="en-GB" sz="3200" dirty="0"/>
              <a:t>Project Title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892430" cy="738664"/>
          </a:xfrm>
          <a:prstGeom prst="rect">
            <a:avLst/>
          </a:prstGeom>
          <a:noFill/>
        </p:spPr>
        <p:txBody>
          <a:bodyPr wrap="square" rtlCol="0">
            <a:spAutoFit/>
          </a:bodyPr>
          <a:lstStyle/>
          <a:p>
            <a:r>
              <a:rPr lang="en-US" b="1" dirty="0"/>
              <a:t>AICTE STU ID : (its available in your offer letter)- </a:t>
            </a:r>
            <a:r>
              <a:rPr lang="en-US" sz="2400" b="1" i="1" u="sng" strike="noStrike" baseline="0" dirty="0">
                <a:latin typeface="CIDFont+F3"/>
              </a:rPr>
              <a:t>STU6a4f981e559f11783601182</a:t>
            </a:r>
            <a:endParaRPr lang="en-US" sz="2400" b="1" i="1" u="sng"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91377" y="253094"/>
            <a:ext cx="6276109" cy="1085850"/>
          </a:xfrm>
        </p:spPr>
        <p:txBody>
          <a:bodyPr>
            <a:noAutofit/>
          </a:bodyPr>
          <a:lstStyle/>
          <a:p>
            <a:pPr algn="l">
              <a:defRPr sz="1500" b="0">
                <a:solidFill>
                  <a:srgbClr val="373D44"/>
                </a:solidFill>
              </a:defRPr>
            </a:pPr>
            <a:r>
              <a:rPr sz="5000" dirty="0"/>
              <a:t>Project Description</a:t>
            </a:r>
            <a:br>
              <a:rPr sz="2000" dirty="0"/>
            </a:br>
            <a:br>
              <a:rPr lang="en-US" sz="2000" dirty="0"/>
            </a:br>
            <a:r>
              <a:rPr sz="2400" dirty="0"/>
              <a:t>Seasonal Agriculture Performance Analysis uses a 4,000-row, 28-column agricultural dataset to study how farm performance changes across Kharif, Rabi and Zaid seasons. The project combines yield, production, revenue, cost, profit, environmental conditions, crop patterns and resource usage. Exploratory analysis, grouped comparisons, correlations, outlier analysis and statistical tests are used to identify meaningful patterns and support data-driven agricultural planning.</a:t>
            </a:r>
            <a:endParaRPr lang="en-IN" sz="24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914400" y="2057400"/>
            <a:ext cx="2926080" cy="365760"/>
          </a:xfrm>
          <a:prstGeom prst="rect">
            <a:avLst/>
          </a:prstGeom>
          <a:noFill/>
        </p:spPr>
        <p:txBody>
          <a:bodyPr wrap="none">
            <a:spAutoFit/>
          </a:bodyPr>
          <a:lstStyle/>
          <a:p>
            <a:pPr algn="l">
              <a:defRPr sz="1700" b="1">
                <a:solidFill>
                  <a:srgbClr val="193153"/>
                </a:solidFill>
              </a:defRPr>
            </a:pPr>
            <a:r>
              <a:t>Farmers / Farm Managers</a:t>
            </a:r>
          </a:p>
        </p:txBody>
      </p:sp>
      <p:sp>
        <p:nvSpPr>
          <p:cNvPr id="18" name="TextBox 17"/>
          <p:cNvSpPr txBox="1"/>
          <p:nvPr/>
        </p:nvSpPr>
        <p:spPr>
          <a:xfrm>
            <a:off x="914400" y="3264408"/>
            <a:ext cx="2926080" cy="365760"/>
          </a:xfrm>
          <a:prstGeom prst="rect">
            <a:avLst/>
          </a:prstGeom>
          <a:noFill/>
        </p:spPr>
        <p:txBody>
          <a:bodyPr wrap="none">
            <a:spAutoFit/>
          </a:bodyPr>
          <a:lstStyle/>
          <a:p>
            <a:pPr algn="l">
              <a:defRPr sz="1700" b="1">
                <a:solidFill>
                  <a:srgbClr val="193153"/>
                </a:solidFill>
              </a:defRPr>
            </a:pPr>
            <a:r>
              <a:t>Agricultural Analysts</a:t>
            </a:r>
          </a:p>
        </p:txBody>
      </p:sp>
      <p:sp>
        <p:nvSpPr>
          <p:cNvPr id="19" name="TextBox 18"/>
          <p:cNvSpPr txBox="1"/>
          <p:nvPr/>
        </p:nvSpPr>
        <p:spPr>
          <a:xfrm>
            <a:off x="914400" y="4471416"/>
            <a:ext cx="2926080" cy="365760"/>
          </a:xfrm>
          <a:prstGeom prst="rect">
            <a:avLst/>
          </a:prstGeom>
          <a:noFill/>
        </p:spPr>
        <p:txBody>
          <a:bodyPr wrap="none">
            <a:spAutoFit/>
          </a:bodyPr>
          <a:lstStyle/>
          <a:p>
            <a:pPr algn="l">
              <a:defRPr sz="1700" b="1">
                <a:solidFill>
                  <a:srgbClr val="193153"/>
                </a:solidFill>
              </a:defRPr>
            </a:pPr>
            <a:r>
              <a:t>Agricultural Planning Teams</a:t>
            </a:r>
          </a:p>
        </p:txBody>
      </p:sp>
      <p:sp>
        <p:nvSpPr>
          <p:cNvPr id="20" name="Rounded Rectangle 19"/>
          <p:cNvSpPr/>
          <p:nvPr/>
        </p:nvSpPr>
        <p:spPr>
          <a:xfrm>
            <a:off x="868680" y="1874519"/>
            <a:ext cx="3246120" cy="361188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69848" y="2039112"/>
            <a:ext cx="2843784" cy="411480"/>
          </a:xfrm>
          <a:prstGeom prst="rect">
            <a:avLst/>
          </a:prstGeom>
          <a:noFill/>
        </p:spPr>
        <p:txBody>
          <a:bodyPr wrap="none">
            <a:spAutoFit/>
          </a:bodyPr>
          <a:lstStyle/>
          <a:p>
            <a:pPr algn="l">
              <a:defRPr sz="1700" b="1">
                <a:solidFill>
                  <a:srgbClr val="193153"/>
                </a:solidFill>
              </a:defRPr>
            </a:pPr>
            <a:r>
              <a:t>Farmers / Farm Managers</a:t>
            </a:r>
          </a:p>
        </p:txBody>
      </p:sp>
      <p:sp>
        <p:nvSpPr>
          <p:cNvPr id="22" name="TextBox 21"/>
          <p:cNvSpPr txBox="1"/>
          <p:nvPr/>
        </p:nvSpPr>
        <p:spPr>
          <a:xfrm>
            <a:off x="1097280" y="2560320"/>
            <a:ext cx="2788920" cy="2788920"/>
          </a:xfrm>
          <a:prstGeom prst="rect">
            <a:avLst/>
          </a:prstGeom>
          <a:noFill/>
        </p:spPr>
        <p:txBody>
          <a:bodyPr wrap="square">
            <a:spAutoFit/>
          </a:bodyPr>
          <a:lstStyle/>
          <a:p>
            <a:pPr>
              <a:spcAft>
                <a:spcPts val="900"/>
              </a:spcAft>
              <a:defRPr sz="1350">
                <a:solidFill>
                  <a:srgbClr val="373D44"/>
                </a:solidFill>
              </a:defRPr>
            </a:pPr>
            <a:r>
              <a:t>Seasonal crop planning, resource optimization and profitability-focused decisions.</a:t>
            </a:r>
          </a:p>
        </p:txBody>
      </p:sp>
      <p:sp>
        <p:nvSpPr>
          <p:cNvPr id="23" name="Rounded Rectangle 22"/>
          <p:cNvSpPr/>
          <p:nvPr/>
        </p:nvSpPr>
        <p:spPr>
          <a:xfrm>
            <a:off x="4480560" y="1874519"/>
            <a:ext cx="3246120" cy="361188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81728" y="2039112"/>
            <a:ext cx="2843784" cy="411480"/>
          </a:xfrm>
          <a:prstGeom prst="rect">
            <a:avLst/>
          </a:prstGeom>
          <a:noFill/>
        </p:spPr>
        <p:txBody>
          <a:bodyPr wrap="none">
            <a:spAutoFit/>
          </a:bodyPr>
          <a:lstStyle/>
          <a:p>
            <a:pPr algn="l">
              <a:defRPr sz="1700" b="1">
                <a:solidFill>
                  <a:srgbClr val="193153"/>
                </a:solidFill>
              </a:defRPr>
            </a:pPr>
            <a:r>
              <a:t>Agricultural Analysts</a:t>
            </a:r>
          </a:p>
        </p:txBody>
      </p:sp>
      <p:sp>
        <p:nvSpPr>
          <p:cNvPr id="25" name="TextBox 24"/>
          <p:cNvSpPr txBox="1"/>
          <p:nvPr/>
        </p:nvSpPr>
        <p:spPr>
          <a:xfrm>
            <a:off x="4709160" y="2560320"/>
            <a:ext cx="2788920" cy="2788920"/>
          </a:xfrm>
          <a:prstGeom prst="rect">
            <a:avLst/>
          </a:prstGeom>
          <a:noFill/>
        </p:spPr>
        <p:txBody>
          <a:bodyPr wrap="square">
            <a:spAutoFit/>
          </a:bodyPr>
          <a:lstStyle/>
          <a:p>
            <a:pPr>
              <a:spcAft>
                <a:spcPts val="900"/>
              </a:spcAft>
              <a:defRPr sz="1350">
                <a:solidFill>
                  <a:srgbClr val="373D44"/>
                </a:solidFill>
              </a:defRPr>
            </a:pPr>
            <a:r>
              <a:t>Crop, season and state comparisons; outlier detection and evidence-based reporting.</a:t>
            </a:r>
          </a:p>
        </p:txBody>
      </p:sp>
      <p:sp>
        <p:nvSpPr>
          <p:cNvPr id="26" name="Rounded Rectangle 25"/>
          <p:cNvSpPr/>
          <p:nvPr/>
        </p:nvSpPr>
        <p:spPr>
          <a:xfrm>
            <a:off x="8092440" y="1874519"/>
            <a:ext cx="3246120" cy="361188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93608" y="2039112"/>
            <a:ext cx="2843784" cy="411480"/>
          </a:xfrm>
          <a:prstGeom prst="rect">
            <a:avLst/>
          </a:prstGeom>
          <a:noFill/>
        </p:spPr>
        <p:txBody>
          <a:bodyPr wrap="none">
            <a:spAutoFit/>
          </a:bodyPr>
          <a:lstStyle/>
          <a:p>
            <a:pPr algn="l">
              <a:defRPr sz="1700" b="1">
                <a:solidFill>
                  <a:srgbClr val="193153"/>
                </a:solidFill>
              </a:defRPr>
            </a:pPr>
            <a:r>
              <a:t>Agricultural Planning Teams</a:t>
            </a:r>
          </a:p>
        </p:txBody>
      </p:sp>
      <p:sp>
        <p:nvSpPr>
          <p:cNvPr id="28" name="TextBox 27"/>
          <p:cNvSpPr txBox="1"/>
          <p:nvPr/>
        </p:nvSpPr>
        <p:spPr>
          <a:xfrm>
            <a:off x="8321040" y="2560320"/>
            <a:ext cx="2788920" cy="2788920"/>
          </a:xfrm>
          <a:prstGeom prst="rect">
            <a:avLst/>
          </a:prstGeom>
          <a:noFill/>
        </p:spPr>
        <p:txBody>
          <a:bodyPr wrap="square">
            <a:spAutoFit/>
          </a:bodyPr>
          <a:lstStyle/>
          <a:p>
            <a:pPr>
              <a:spcAft>
                <a:spcPts val="900"/>
              </a:spcAft>
              <a:defRPr sz="1350">
                <a:solidFill>
                  <a:srgbClr val="373D44"/>
                </a:solidFill>
              </a:defRPr>
            </a:pPr>
            <a:r>
              <a:t>Regional performance assessment and support for seasonal resource planning.</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17" name="Rounded Rectangle 16"/>
          <p:cNvSpPr/>
          <p:nvPr/>
        </p:nvSpPr>
        <p:spPr>
          <a:xfrm>
            <a:off x="685800" y="1600200"/>
            <a:ext cx="3337560" cy="160020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1764792"/>
            <a:ext cx="2971800" cy="365760"/>
          </a:xfrm>
          <a:prstGeom prst="rect">
            <a:avLst/>
          </a:prstGeom>
          <a:noFill/>
        </p:spPr>
        <p:txBody>
          <a:bodyPr wrap="none">
            <a:spAutoFit/>
          </a:bodyPr>
          <a:lstStyle/>
          <a:p>
            <a:pPr algn="ctr">
              <a:defRPr sz="1600" b="1">
                <a:solidFill>
                  <a:srgbClr val="193153"/>
                </a:solidFill>
              </a:defRPr>
            </a:pPr>
            <a:r>
              <a:t>Python</a:t>
            </a:r>
          </a:p>
        </p:txBody>
      </p:sp>
      <p:sp>
        <p:nvSpPr>
          <p:cNvPr id="19" name="TextBox 18"/>
          <p:cNvSpPr txBox="1"/>
          <p:nvPr/>
        </p:nvSpPr>
        <p:spPr>
          <a:xfrm>
            <a:off x="886968" y="2221992"/>
            <a:ext cx="2754303" cy="477054"/>
          </a:xfrm>
          <a:prstGeom prst="rect">
            <a:avLst/>
          </a:prstGeom>
          <a:noFill/>
        </p:spPr>
        <p:txBody>
          <a:bodyPr wrap="square">
            <a:spAutoFit/>
          </a:bodyPr>
          <a:lstStyle/>
          <a:p>
            <a:pPr algn="ctr">
              <a:defRPr sz="1250" b="0">
                <a:solidFill>
                  <a:srgbClr val="373D44"/>
                </a:solidFill>
              </a:defRPr>
            </a:pPr>
            <a:r>
              <a:rPr dirty="0"/>
              <a:t>Core language for data analysis and statistical processing</a:t>
            </a:r>
          </a:p>
        </p:txBody>
      </p:sp>
      <p:sp>
        <p:nvSpPr>
          <p:cNvPr id="20" name="Rounded Rectangle 19"/>
          <p:cNvSpPr/>
          <p:nvPr/>
        </p:nvSpPr>
        <p:spPr>
          <a:xfrm>
            <a:off x="4389120" y="1600200"/>
            <a:ext cx="3337560" cy="160020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0" y="1764792"/>
            <a:ext cx="2971800" cy="365760"/>
          </a:xfrm>
          <a:prstGeom prst="rect">
            <a:avLst/>
          </a:prstGeom>
          <a:noFill/>
        </p:spPr>
        <p:txBody>
          <a:bodyPr wrap="none">
            <a:spAutoFit/>
          </a:bodyPr>
          <a:lstStyle/>
          <a:p>
            <a:pPr algn="ctr">
              <a:defRPr sz="1600" b="1">
                <a:solidFill>
                  <a:srgbClr val="193153"/>
                </a:solidFill>
              </a:defRPr>
            </a:pPr>
            <a:r>
              <a:t>Pandas</a:t>
            </a:r>
          </a:p>
        </p:txBody>
      </p:sp>
      <p:sp>
        <p:nvSpPr>
          <p:cNvPr id="22" name="TextBox 21"/>
          <p:cNvSpPr txBox="1"/>
          <p:nvPr/>
        </p:nvSpPr>
        <p:spPr>
          <a:xfrm>
            <a:off x="4661806" y="2221992"/>
            <a:ext cx="3064873" cy="477054"/>
          </a:xfrm>
          <a:prstGeom prst="rect">
            <a:avLst/>
          </a:prstGeom>
          <a:noFill/>
        </p:spPr>
        <p:txBody>
          <a:bodyPr wrap="square">
            <a:spAutoFit/>
          </a:bodyPr>
          <a:lstStyle/>
          <a:p>
            <a:pPr algn="ctr">
              <a:defRPr sz="1250" b="0">
                <a:solidFill>
                  <a:srgbClr val="373D44"/>
                </a:solidFill>
              </a:defRPr>
            </a:pPr>
            <a:r>
              <a:rPr dirty="0"/>
              <a:t>Data cleaning, gro</a:t>
            </a:r>
            <a:r>
              <a:rPr lang="en-US" dirty="0"/>
              <a:t>u</a:t>
            </a:r>
            <a:r>
              <a:rPr dirty="0"/>
              <a:t>ping, aggregation and pivot tables</a:t>
            </a:r>
          </a:p>
        </p:txBody>
      </p:sp>
      <p:sp>
        <p:nvSpPr>
          <p:cNvPr id="23" name="Rounded Rectangle 22"/>
          <p:cNvSpPr/>
          <p:nvPr/>
        </p:nvSpPr>
        <p:spPr>
          <a:xfrm>
            <a:off x="8092440" y="1600200"/>
            <a:ext cx="3337560" cy="160020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75319" y="1764792"/>
            <a:ext cx="2971800" cy="365760"/>
          </a:xfrm>
          <a:prstGeom prst="rect">
            <a:avLst/>
          </a:prstGeom>
          <a:noFill/>
        </p:spPr>
        <p:txBody>
          <a:bodyPr wrap="none">
            <a:spAutoFit/>
          </a:bodyPr>
          <a:lstStyle/>
          <a:p>
            <a:pPr algn="ctr">
              <a:defRPr sz="1600" b="1">
                <a:solidFill>
                  <a:srgbClr val="193153"/>
                </a:solidFill>
              </a:defRPr>
            </a:pPr>
            <a:r>
              <a:t>Matplotlib / Seaborn</a:t>
            </a:r>
          </a:p>
        </p:txBody>
      </p:sp>
      <p:sp>
        <p:nvSpPr>
          <p:cNvPr id="25" name="TextBox 24"/>
          <p:cNvSpPr txBox="1"/>
          <p:nvPr/>
        </p:nvSpPr>
        <p:spPr>
          <a:xfrm>
            <a:off x="8196943" y="2221992"/>
            <a:ext cx="3108090" cy="669414"/>
          </a:xfrm>
          <a:prstGeom prst="rect">
            <a:avLst/>
          </a:prstGeom>
          <a:noFill/>
        </p:spPr>
        <p:txBody>
          <a:bodyPr wrap="square">
            <a:spAutoFit/>
          </a:bodyPr>
          <a:lstStyle/>
          <a:p>
            <a:pPr algn="ctr">
              <a:defRPr sz="1250" b="0">
                <a:solidFill>
                  <a:srgbClr val="373D44"/>
                </a:solidFill>
              </a:defRPr>
            </a:pPr>
            <a:r>
              <a:rPr lang="en-US" dirty="0"/>
              <a:t>Exploratory data visualization and comparison charts</a:t>
            </a:r>
          </a:p>
          <a:p>
            <a:pPr algn="ctr">
              <a:defRPr sz="1250" b="0">
                <a:solidFill>
                  <a:srgbClr val="373D44"/>
                </a:solidFill>
              </a:defRPr>
            </a:pPr>
            <a:endParaRPr dirty="0"/>
          </a:p>
        </p:txBody>
      </p:sp>
      <p:sp>
        <p:nvSpPr>
          <p:cNvPr id="26" name="Rounded Rectangle 25"/>
          <p:cNvSpPr/>
          <p:nvPr/>
        </p:nvSpPr>
        <p:spPr>
          <a:xfrm>
            <a:off x="685800" y="3657600"/>
            <a:ext cx="3337560" cy="160020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8680" y="3822191"/>
            <a:ext cx="2971800" cy="365760"/>
          </a:xfrm>
          <a:prstGeom prst="rect">
            <a:avLst/>
          </a:prstGeom>
          <a:noFill/>
        </p:spPr>
        <p:txBody>
          <a:bodyPr wrap="none">
            <a:spAutoFit/>
          </a:bodyPr>
          <a:lstStyle/>
          <a:p>
            <a:pPr algn="ctr">
              <a:defRPr sz="1600" b="1">
                <a:solidFill>
                  <a:srgbClr val="193153"/>
                </a:solidFill>
              </a:defRPr>
            </a:pPr>
            <a:r>
              <a:t>SciPy</a:t>
            </a:r>
          </a:p>
        </p:txBody>
      </p:sp>
      <p:sp>
        <p:nvSpPr>
          <p:cNvPr id="28" name="TextBox 27"/>
          <p:cNvSpPr txBox="1"/>
          <p:nvPr/>
        </p:nvSpPr>
        <p:spPr>
          <a:xfrm>
            <a:off x="886968" y="4279392"/>
            <a:ext cx="2754303" cy="477054"/>
          </a:xfrm>
          <a:prstGeom prst="rect">
            <a:avLst/>
          </a:prstGeom>
          <a:noFill/>
        </p:spPr>
        <p:txBody>
          <a:bodyPr wrap="square">
            <a:spAutoFit/>
          </a:bodyPr>
          <a:lstStyle/>
          <a:p>
            <a:pPr algn="ctr">
              <a:defRPr sz="1250" b="0">
                <a:solidFill>
                  <a:srgbClr val="373D44"/>
                </a:solidFill>
              </a:defRPr>
            </a:pPr>
            <a:r>
              <a:rPr dirty="0"/>
              <a:t>ANOVA and Welch t-tests for statistical analysis</a:t>
            </a:r>
          </a:p>
        </p:txBody>
      </p:sp>
      <p:sp>
        <p:nvSpPr>
          <p:cNvPr id="29" name="Rounded Rectangle 28"/>
          <p:cNvSpPr/>
          <p:nvPr/>
        </p:nvSpPr>
        <p:spPr>
          <a:xfrm>
            <a:off x="4389120" y="3657600"/>
            <a:ext cx="3337560" cy="160020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0" y="3822191"/>
            <a:ext cx="2971800" cy="365760"/>
          </a:xfrm>
          <a:prstGeom prst="rect">
            <a:avLst/>
          </a:prstGeom>
          <a:noFill/>
        </p:spPr>
        <p:txBody>
          <a:bodyPr wrap="none">
            <a:spAutoFit/>
          </a:bodyPr>
          <a:lstStyle/>
          <a:p>
            <a:pPr algn="ctr">
              <a:defRPr sz="1600" b="1">
                <a:solidFill>
                  <a:srgbClr val="193153"/>
                </a:solidFill>
              </a:defRPr>
            </a:pPr>
            <a:r>
              <a:t>Jupyter Notebook</a:t>
            </a:r>
          </a:p>
        </p:txBody>
      </p:sp>
      <p:sp>
        <p:nvSpPr>
          <p:cNvPr id="31" name="TextBox 30"/>
          <p:cNvSpPr txBox="1"/>
          <p:nvPr/>
        </p:nvSpPr>
        <p:spPr>
          <a:xfrm>
            <a:off x="4898570" y="4279392"/>
            <a:ext cx="2626941" cy="477054"/>
          </a:xfrm>
          <a:prstGeom prst="rect">
            <a:avLst/>
          </a:prstGeom>
          <a:noFill/>
        </p:spPr>
        <p:txBody>
          <a:bodyPr wrap="square">
            <a:spAutoFit/>
          </a:bodyPr>
          <a:lstStyle/>
          <a:p>
            <a:pPr algn="ctr">
              <a:defRPr sz="1250" b="0">
                <a:solidFill>
                  <a:srgbClr val="373D44"/>
                </a:solidFill>
              </a:defRPr>
            </a:pPr>
            <a:r>
              <a:rPr dirty="0"/>
              <a:t>Interactive analysis environment used in VS Code</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02920"/>
          </a:xfrm>
          <a:prstGeom prst="rect">
            <a:avLst/>
          </a:prstGeom>
          <a:noFill/>
        </p:spPr>
        <p:txBody>
          <a:bodyPr wrap="none">
            <a:spAutoFit/>
          </a:bodyPr>
          <a:lstStyle/>
          <a:p>
            <a:pPr>
              <a:defRPr sz="2400" b="1"/>
            </a:pPr>
            <a:r>
              <a:t>Code 1 — Data Preparation / Analysis Setup</a:t>
            </a:r>
          </a:p>
        </p:txBody>
      </p:sp>
      <p:pic>
        <p:nvPicPr>
          <p:cNvPr id="3" name="Picture 2" descr="Screenshot 2026-09-18 034758.png"/>
          <p:cNvPicPr>
            <a:picLocks noChangeAspect="1"/>
          </p:cNvPicPr>
          <p:nvPr/>
        </p:nvPicPr>
        <p:blipFill>
          <a:blip r:embed="rId2"/>
          <a:stretch>
            <a:fillRect/>
          </a:stretch>
        </p:blipFill>
        <p:spPr>
          <a:xfrm>
            <a:off x="502920" y="827859"/>
            <a:ext cx="7398019" cy="56137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6604500" cy="461665"/>
          </a:xfrm>
          <a:prstGeom prst="rect">
            <a:avLst/>
          </a:prstGeom>
          <a:noFill/>
        </p:spPr>
        <p:txBody>
          <a:bodyPr wrap="none">
            <a:spAutoFit/>
          </a:bodyPr>
          <a:lstStyle/>
          <a:p>
            <a:pPr>
              <a:defRPr sz="2400" b="1"/>
            </a:pPr>
            <a:r>
              <a:rPr dirty="0"/>
              <a:t>Code </a:t>
            </a:r>
            <a:r>
              <a:rPr lang="en-US" dirty="0"/>
              <a:t>2</a:t>
            </a:r>
            <a:r>
              <a:rPr dirty="0"/>
              <a:t> — Resource Usage &amp; Water Efficiency</a:t>
            </a:r>
          </a:p>
        </p:txBody>
      </p:sp>
      <p:pic>
        <p:nvPicPr>
          <p:cNvPr id="3" name="Picture 2" descr="Screenshot 2026-09-18 034208.png"/>
          <p:cNvPicPr>
            <a:picLocks noChangeAspect="1"/>
          </p:cNvPicPr>
          <p:nvPr/>
        </p:nvPicPr>
        <p:blipFill>
          <a:blip r:embed="rId2"/>
          <a:stretch>
            <a:fillRect/>
          </a:stretch>
        </p:blipFill>
        <p:spPr>
          <a:xfrm>
            <a:off x="502920" y="827859"/>
            <a:ext cx="9031111" cy="559743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4981748" cy="461665"/>
          </a:xfrm>
          <a:prstGeom prst="rect">
            <a:avLst/>
          </a:prstGeom>
          <a:noFill/>
        </p:spPr>
        <p:txBody>
          <a:bodyPr wrap="none">
            <a:spAutoFit/>
          </a:bodyPr>
          <a:lstStyle/>
          <a:p>
            <a:pPr>
              <a:defRPr sz="2400" b="1"/>
            </a:pPr>
            <a:r>
              <a:rPr dirty="0"/>
              <a:t>Code </a:t>
            </a:r>
            <a:r>
              <a:rPr lang="en-US" dirty="0"/>
              <a:t>3</a:t>
            </a:r>
            <a:r>
              <a:rPr dirty="0"/>
              <a:t> — ANOVA: Yield by Season</a:t>
            </a:r>
          </a:p>
        </p:txBody>
      </p:sp>
      <p:pic>
        <p:nvPicPr>
          <p:cNvPr id="3" name="Picture 2" descr="Screenshot 2026-09-18 034321.png"/>
          <p:cNvPicPr>
            <a:picLocks noChangeAspect="1"/>
          </p:cNvPicPr>
          <p:nvPr/>
        </p:nvPicPr>
        <p:blipFill>
          <a:blip r:embed="rId2"/>
          <a:stretch>
            <a:fillRect/>
          </a:stretch>
        </p:blipFill>
        <p:spPr>
          <a:xfrm>
            <a:off x="502920" y="836022"/>
            <a:ext cx="7251902" cy="55974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defRPr sz="1550" b="1">
                <a:solidFill>
                  <a:srgbClr val="193153"/>
                </a:solidFill>
              </a:defRPr>
            </a:pPr>
            <a:r>
              <a:t>Result 1 — Average Economic Performance by Season</a:t>
            </a:r>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defRPr sz="1250" b="0">
                <a:solidFill>
                  <a:srgbClr val="697078"/>
                </a:solidFill>
              </a:defRPr>
            </a:pPr>
            <a:r>
              <a:t>Key findings from notebook analysis</a:t>
            </a:r>
            <a:endParaRPr lang="en-GB" sz="2000" dirty="0"/>
          </a:p>
        </p:txBody>
      </p:sp>
      <p:sp>
        <p:nvSpPr>
          <p:cNvPr id="32" name="Rounded Rectangle 31"/>
          <p:cNvSpPr/>
          <p:nvPr/>
        </p:nvSpPr>
        <p:spPr>
          <a:xfrm>
            <a:off x="7818120" y="1874519"/>
            <a:ext cx="3703320" cy="425196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19288" y="2039112"/>
            <a:ext cx="3300984" cy="411480"/>
          </a:xfrm>
          <a:prstGeom prst="rect">
            <a:avLst/>
          </a:prstGeom>
          <a:noFill/>
        </p:spPr>
        <p:txBody>
          <a:bodyPr wrap="none">
            <a:spAutoFit/>
          </a:bodyPr>
          <a:lstStyle/>
          <a:p>
            <a:pPr algn="l">
              <a:defRPr sz="1700" b="1">
                <a:solidFill>
                  <a:srgbClr val="193153"/>
                </a:solidFill>
              </a:defRPr>
            </a:pPr>
            <a:r>
              <a:t>Key Insight</a:t>
            </a:r>
          </a:p>
        </p:txBody>
      </p:sp>
      <p:sp>
        <p:nvSpPr>
          <p:cNvPr id="34" name="TextBox 33"/>
          <p:cNvSpPr txBox="1"/>
          <p:nvPr/>
        </p:nvSpPr>
        <p:spPr>
          <a:xfrm>
            <a:off x="8046720" y="2560320"/>
            <a:ext cx="3246120" cy="3429000"/>
          </a:xfrm>
          <a:prstGeom prst="rect">
            <a:avLst/>
          </a:prstGeom>
          <a:noFill/>
        </p:spPr>
        <p:txBody>
          <a:bodyPr wrap="square">
            <a:spAutoFit/>
          </a:bodyPr>
          <a:lstStyle/>
          <a:p>
            <a:pPr>
              <a:spcAft>
                <a:spcPts val="900"/>
              </a:spcAft>
              <a:defRPr sz="1350">
                <a:solidFill>
                  <a:srgbClr val="373D44"/>
                </a:solidFill>
              </a:defRPr>
            </a:pPr>
            <a:r>
              <a:t>Kharif records the highest average profit: ₹178,914.65.</a:t>
            </a:r>
          </a:p>
          <a:p>
            <a:pPr>
              <a:spcAft>
                <a:spcPts val="900"/>
              </a:spcAft>
              <a:defRPr sz="1350">
                <a:solidFill>
                  <a:srgbClr val="373D44"/>
                </a:solidFill>
              </a:defRPr>
            </a:pPr>
            <a:r>
              <a:t>Rabi remains profitable with ₹87,689.47 average profit.</a:t>
            </a:r>
          </a:p>
          <a:p>
            <a:pPr>
              <a:spcAft>
                <a:spcPts val="900"/>
              </a:spcAft>
              <a:defRPr sz="1350">
                <a:solidFill>
                  <a:srgbClr val="373D44"/>
                </a:solidFill>
              </a:defRPr>
            </a:pPr>
            <a:r>
              <a:t>Zaid shows an average loss of ₹24,804.82.</a:t>
            </a:r>
          </a:p>
          <a:p>
            <a:pPr>
              <a:spcAft>
                <a:spcPts val="900"/>
              </a:spcAft>
              <a:defRPr sz="1350">
                <a:solidFill>
                  <a:srgbClr val="373D44"/>
                </a:solidFill>
              </a:defRPr>
            </a:pPr>
            <a:r>
              <a:t>Kharif also has the highest average production and revenue.</a:t>
            </a:r>
          </a:p>
        </p:txBody>
      </p:sp>
      <p:pic>
        <p:nvPicPr>
          <p:cNvPr id="5" name="Picture 4">
            <a:extLst>
              <a:ext uri="{FF2B5EF4-FFF2-40B4-BE49-F238E27FC236}">
                <a16:creationId xmlns:a16="http://schemas.microsoft.com/office/drawing/2014/main" id="{6A0A4CAC-09FD-40D0-CB46-41923C57C908}"/>
              </a:ext>
            </a:extLst>
          </p:cNvPr>
          <p:cNvPicPr>
            <a:picLocks noChangeAspect="1"/>
          </p:cNvPicPr>
          <p:nvPr/>
        </p:nvPicPr>
        <p:blipFill>
          <a:blip r:embed="rId2"/>
          <a:stretch>
            <a:fillRect/>
          </a:stretch>
        </p:blipFill>
        <p:spPr>
          <a:xfrm>
            <a:off x="320982" y="2039112"/>
            <a:ext cx="7198325" cy="438049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defRPr sz="1550" b="1">
                <a:solidFill>
                  <a:srgbClr val="193153"/>
                </a:solidFill>
              </a:defRPr>
            </a:pPr>
            <a:r>
              <a:rPr dirty="0"/>
              <a:t>Result 2 — Average Yield by Crop and Season</a:t>
            </a:r>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defRPr sz="1250" b="0">
                <a:solidFill>
                  <a:srgbClr val="697078"/>
                </a:solidFill>
              </a:defRPr>
            </a:pPr>
            <a:r>
              <a:t>Key findings from notebook analysis</a:t>
            </a:r>
            <a:endParaRPr lang="en-GB" sz="2000" dirty="0"/>
          </a:p>
        </p:txBody>
      </p:sp>
      <p:sp>
        <p:nvSpPr>
          <p:cNvPr id="32" name="Rounded Rectangle 31"/>
          <p:cNvSpPr/>
          <p:nvPr/>
        </p:nvSpPr>
        <p:spPr>
          <a:xfrm>
            <a:off x="7818120" y="1874519"/>
            <a:ext cx="3703320" cy="425196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19288" y="2039112"/>
            <a:ext cx="3300984" cy="411480"/>
          </a:xfrm>
          <a:prstGeom prst="rect">
            <a:avLst/>
          </a:prstGeom>
          <a:noFill/>
        </p:spPr>
        <p:txBody>
          <a:bodyPr wrap="none">
            <a:spAutoFit/>
          </a:bodyPr>
          <a:lstStyle/>
          <a:p>
            <a:pPr algn="l">
              <a:defRPr sz="1700" b="1">
                <a:solidFill>
                  <a:srgbClr val="193153"/>
                </a:solidFill>
              </a:defRPr>
            </a:pPr>
            <a:r>
              <a:t>Key Insight</a:t>
            </a:r>
          </a:p>
        </p:txBody>
      </p:sp>
      <p:sp>
        <p:nvSpPr>
          <p:cNvPr id="34" name="TextBox 33"/>
          <p:cNvSpPr txBox="1"/>
          <p:nvPr/>
        </p:nvSpPr>
        <p:spPr>
          <a:xfrm>
            <a:off x="8046720" y="2560320"/>
            <a:ext cx="3246120" cy="3429000"/>
          </a:xfrm>
          <a:prstGeom prst="rect">
            <a:avLst/>
          </a:prstGeom>
          <a:noFill/>
        </p:spPr>
        <p:txBody>
          <a:bodyPr wrap="square">
            <a:spAutoFit/>
          </a:bodyPr>
          <a:lstStyle/>
          <a:p>
            <a:pPr>
              <a:spcAft>
                <a:spcPts val="900"/>
              </a:spcAft>
              <a:defRPr sz="1350">
                <a:solidFill>
                  <a:srgbClr val="373D44"/>
                </a:solidFill>
              </a:defRPr>
            </a:pPr>
            <a:r>
              <a:t>Sugarcane has the highest average yield in the dataset.</a:t>
            </a:r>
          </a:p>
          <a:p>
            <a:pPr>
              <a:spcAft>
                <a:spcPts val="900"/>
              </a:spcAft>
              <a:defRPr sz="1350">
                <a:solidFill>
                  <a:srgbClr val="373D44"/>
                </a:solidFill>
              </a:defRPr>
            </a:pPr>
            <a:r>
              <a:t>Kharif yield is higher than Rabi and Zaid for every analyzed crop.</a:t>
            </a:r>
          </a:p>
          <a:p>
            <a:pPr>
              <a:spcAft>
                <a:spcPts val="900"/>
              </a:spcAft>
              <a:defRPr sz="1350">
                <a:solidFill>
                  <a:srgbClr val="373D44"/>
                </a:solidFill>
              </a:defRPr>
            </a:pPr>
            <a:r>
              <a:t>Kharif Sugarcane averages 53.46 t/ha.</a:t>
            </a:r>
          </a:p>
          <a:p>
            <a:pPr>
              <a:spcAft>
                <a:spcPts val="900"/>
              </a:spcAft>
              <a:defRPr sz="1350">
                <a:solidFill>
                  <a:srgbClr val="373D44"/>
                </a:solidFill>
              </a:defRPr>
            </a:pPr>
            <a:r>
              <a:t>Maize and Rice are among the stronger non-sugarcane crops.</a:t>
            </a:r>
          </a:p>
        </p:txBody>
      </p:sp>
      <p:pic>
        <p:nvPicPr>
          <p:cNvPr id="3" name="Picture 2">
            <a:extLst>
              <a:ext uri="{FF2B5EF4-FFF2-40B4-BE49-F238E27FC236}">
                <a16:creationId xmlns:a16="http://schemas.microsoft.com/office/drawing/2014/main" id="{E44503A1-285D-CA0A-6ACF-3D2963860FB7}"/>
              </a:ext>
            </a:extLst>
          </p:cNvPr>
          <p:cNvPicPr>
            <a:picLocks noChangeAspect="1"/>
          </p:cNvPicPr>
          <p:nvPr/>
        </p:nvPicPr>
        <p:blipFill>
          <a:blip r:embed="rId2"/>
          <a:stretch>
            <a:fillRect/>
          </a:stretch>
        </p:blipFill>
        <p:spPr>
          <a:xfrm>
            <a:off x="320982" y="2039112"/>
            <a:ext cx="6992718" cy="425537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defRPr sz="1550" b="1">
                <a:solidFill>
                  <a:srgbClr val="193153"/>
                </a:solidFill>
              </a:defRPr>
            </a:pPr>
            <a:r>
              <a:t>Result 3 — Average Resource Usage by Season</a:t>
            </a:r>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defRPr sz="1250" b="0">
                <a:solidFill>
                  <a:srgbClr val="697078"/>
                </a:solidFill>
              </a:defRPr>
            </a:pPr>
            <a:r>
              <a:t>Key findings from notebook analysis</a:t>
            </a:r>
            <a:endParaRPr lang="en-GB" sz="2000" dirty="0"/>
          </a:p>
        </p:txBody>
      </p:sp>
      <p:sp>
        <p:nvSpPr>
          <p:cNvPr id="32" name="Rounded Rectangle 31"/>
          <p:cNvSpPr/>
          <p:nvPr/>
        </p:nvSpPr>
        <p:spPr>
          <a:xfrm>
            <a:off x="7818120" y="1874519"/>
            <a:ext cx="3703320" cy="425196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19288" y="2039112"/>
            <a:ext cx="3300984" cy="411480"/>
          </a:xfrm>
          <a:prstGeom prst="rect">
            <a:avLst/>
          </a:prstGeom>
          <a:noFill/>
        </p:spPr>
        <p:txBody>
          <a:bodyPr wrap="none">
            <a:spAutoFit/>
          </a:bodyPr>
          <a:lstStyle/>
          <a:p>
            <a:pPr algn="l">
              <a:defRPr sz="1700" b="1">
                <a:solidFill>
                  <a:srgbClr val="193153"/>
                </a:solidFill>
              </a:defRPr>
            </a:pPr>
            <a:r>
              <a:t>Key Insight</a:t>
            </a:r>
          </a:p>
        </p:txBody>
      </p:sp>
      <p:sp>
        <p:nvSpPr>
          <p:cNvPr id="34" name="TextBox 33"/>
          <p:cNvSpPr txBox="1"/>
          <p:nvPr/>
        </p:nvSpPr>
        <p:spPr>
          <a:xfrm>
            <a:off x="8046720" y="2560320"/>
            <a:ext cx="3246120" cy="3429000"/>
          </a:xfrm>
          <a:prstGeom prst="rect">
            <a:avLst/>
          </a:prstGeom>
          <a:noFill/>
        </p:spPr>
        <p:txBody>
          <a:bodyPr wrap="square">
            <a:spAutoFit/>
          </a:bodyPr>
          <a:lstStyle/>
          <a:p>
            <a:pPr>
              <a:spcAft>
                <a:spcPts val="900"/>
              </a:spcAft>
              <a:defRPr sz="1350">
                <a:solidFill>
                  <a:srgbClr val="373D44"/>
                </a:solidFill>
              </a:defRPr>
            </a:pPr>
            <a:r>
              <a:rPr dirty="0"/>
              <a:t>Kharif has the highest water-use efficiency: 5.89 t/1000 m³.</a:t>
            </a:r>
          </a:p>
          <a:p>
            <a:pPr>
              <a:spcAft>
                <a:spcPts val="900"/>
              </a:spcAft>
              <a:defRPr sz="1350">
                <a:solidFill>
                  <a:srgbClr val="373D44"/>
                </a:solidFill>
              </a:defRPr>
            </a:pPr>
            <a:r>
              <a:rPr dirty="0"/>
              <a:t>Zaid has the lowest efficiency: 4.41 t/1000 m³.</a:t>
            </a:r>
          </a:p>
          <a:p>
            <a:pPr>
              <a:spcAft>
                <a:spcPts val="900"/>
              </a:spcAft>
              <a:defRPr sz="1350">
                <a:solidFill>
                  <a:srgbClr val="373D44"/>
                </a:solidFill>
              </a:defRPr>
            </a:pPr>
            <a:r>
              <a:rPr dirty="0"/>
              <a:t>Zaid also has the highest average water usage: 6,419.89 m³.</a:t>
            </a:r>
          </a:p>
          <a:p>
            <a:pPr>
              <a:spcAft>
                <a:spcPts val="900"/>
              </a:spcAft>
              <a:defRPr sz="1350">
                <a:solidFill>
                  <a:srgbClr val="373D44"/>
                </a:solidFill>
              </a:defRPr>
            </a:pPr>
            <a:r>
              <a:rPr dirty="0"/>
              <a:t>Resource efficiency should therefore be considered with yield and profit.</a:t>
            </a:r>
          </a:p>
        </p:txBody>
      </p:sp>
      <p:pic>
        <p:nvPicPr>
          <p:cNvPr id="2" name="Picture 1">
            <a:extLst>
              <a:ext uri="{FF2B5EF4-FFF2-40B4-BE49-F238E27FC236}">
                <a16:creationId xmlns:a16="http://schemas.microsoft.com/office/drawing/2014/main" id="{47A1FAD6-C6F4-471B-7796-F241ADADF1B1}"/>
              </a:ext>
            </a:extLst>
          </p:cNvPr>
          <p:cNvPicPr>
            <a:picLocks noChangeAspect="1"/>
          </p:cNvPicPr>
          <p:nvPr/>
        </p:nvPicPr>
        <p:blipFill>
          <a:blip r:embed="rId2"/>
          <a:stretch>
            <a:fillRect/>
          </a:stretch>
        </p:blipFill>
        <p:spPr>
          <a:xfrm>
            <a:off x="320982" y="2141919"/>
            <a:ext cx="6992718" cy="425537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defRPr sz="1550" b="1">
                <a:solidFill>
                  <a:srgbClr val="193153"/>
                </a:solidFill>
              </a:defRPr>
            </a:pPr>
            <a:r>
              <a:t>Result 4 — Statistical Analysis: Profit by Season</a:t>
            </a:r>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defRPr sz="1250" b="0">
                <a:solidFill>
                  <a:srgbClr val="697078"/>
                </a:solidFill>
              </a:defRPr>
            </a:pPr>
            <a:r>
              <a:t>Key findings from notebook analysis</a:t>
            </a:r>
            <a:endParaRPr lang="en-GB" sz="2000" dirty="0"/>
          </a:p>
        </p:txBody>
      </p:sp>
      <p:sp>
        <p:nvSpPr>
          <p:cNvPr id="32" name="Rounded Rectangle 31"/>
          <p:cNvSpPr/>
          <p:nvPr/>
        </p:nvSpPr>
        <p:spPr>
          <a:xfrm>
            <a:off x="7818120" y="1874519"/>
            <a:ext cx="3703320" cy="425196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19288" y="2039112"/>
            <a:ext cx="3300984" cy="411480"/>
          </a:xfrm>
          <a:prstGeom prst="rect">
            <a:avLst/>
          </a:prstGeom>
          <a:noFill/>
        </p:spPr>
        <p:txBody>
          <a:bodyPr wrap="none">
            <a:spAutoFit/>
          </a:bodyPr>
          <a:lstStyle/>
          <a:p>
            <a:pPr algn="l">
              <a:defRPr sz="1700" b="1">
                <a:solidFill>
                  <a:srgbClr val="193153"/>
                </a:solidFill>
              </a:defRPr>
            </a:pPr>
            <a:r>
              <a:t>Key Insight</a:t>
            </a:r>
          </a:p>
        </p:txBody>
      </p:sp>
      <p:sp>
        <p:nvSpPr>
          <p:cNvPr id="34" name="TextBox 33"/>
          <p:cNvSpPr txBox="1"/>
          <p:nvPr/>
        </p:nvSpPr>
        <p:spPr>
          <a:xfrm>
            <a:off x="8046720" y="2560320"/>
            <a:ext cx="3246120" cy="3429000"/>
          </a:xfrm>
          <a:prstGeom prst="rect">
            <a:avLst/>
          </a:prstGeom>
          <a:noFill/>
        </p:spPr>
        <p:txBody>
          <a:bodyPr wrap="square">
            <a:spAutoFit/>
          </a:bodyPr>
          <a:lstStyle/>
          <a:p>
            <a:pPr>
              <a:spcAft>
                <a:spcPts val="900"/>
              </a:spcAft>
              <a:defRPr sz="1350">
                <a:solidFill>
                  <a:srgbClr val="373D44"/>
                </a:solidFill>
              </a:defRPr>
            </a:pPr>
            <a:r>
              <a:t>ANOVA F-statistic = 34.2918.</a:t>
            </a:r>
          </a:p>
          <a:p>
            <a:pPr>
              <a:spcAft>
                <a:spcPts val="900"/>
              </a:spcAft>
              <a:defRPr sz="1350">
                <a:solidFill>
                  <a:srgbClr val="373D44"/>
                </a:solidFill>
              </a:defRPr>
            </a:pPr>
            <a:r>
              <a:t>p-value = 1.71 × 10⁻¹⁵, below the 5% significance level.</a:t>
            </a:r>
          </a:p>
          <a:p>
            <a:pPr>
              <a:spcAft>
                <a:spcPts val="900"/>
              </a:spcAft>
              <a:defRPr sz="1350">
                <a:solidFill>
                  <a:srgbClr val="373D44"/>
                </a:solidFill>
              </a:defRPr>
            </a:pPr>
            <a:r>
              <a:t>Therefore, seasonal differences in profit are statistically significant.</a:t>
            </a:r>
          </a:p>
          <a:p>
            <a:pPr>
              <a:spcAft>
                <a:spcPts val="900"/>
              </a:spcAft>
              <a:defRPr sz="1350">
                <a:solidFill>
                  <a:srgbClr val="373D44"/>
                </a:solidFill>
              </a:defRPr>
            </a:pPr>
            <a:r>
              <a:t>Pairwise Welch tests also show significant profit differences between each season pair.</a:t>
            </a:r>
          </a:p>
        </p:txBody>
      </p:sp>
      <p:pic>
        <p:nvPicPr>
          <p:cNvPr id="2" name="Picture 1">
            <a:extLst>
              <a:ext uri="{FF2B5EF4-FFF2-40B4-BE49-F238E27FC236}">
                <a16:creationId xmlns:a16="http://schemas.microsoft.com/office/drawing/2014/main" id="{E2976A23-6267-884D-DCEB-1A9A2CB33D50}"/>
              </a:ext>
            </a:extLst>
          </p:cNvPr>
          <p:cNvPicPr>
            <a:picLocks noChangeAspect="1"/>
          </p:cNvPicPr>
          <p:nvPr/>
        </p:nvPicPr>
        <p:blipFill>
          <a:blip r:embed="rId2"/>
          <a:stretch>
            <a:fillRect/>
          </a:stretch>
        </p:blipFill>
        <p:spPr>
          <a:xfrm>
            <a:off x="320982" y="2039112"/>
            <a:ext cx="6992718" cy="424928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6784" y="279220"/>
            <a:ext cx="11155680" cy="502920"/>
          </a:xfrm>
          <a:prstGeom prst="rect">
            <a:avLst/>
          </a:prstGeom>
          <a:noFill/>
        </p:spPr>
        <p:txBody>
          <a:bodyPr wrap="none">
            <a:spAutoFit/>
          </a:bodyPr>
          <a:lstStyle/>
          <a:p>
            <a:pPr algn="l">
              <a:defRPr sz="2400" b="1"/>
            </a:pPr>
            <a:r>
              <a:rPr dirty="0"/>
              <a:t>Chart 1 — Average Profit by Season</a:t>
            </a:r>
          </a:p>
        </p:txBody>
      </p:sp>
      <p:pic>
        <p:nvPicPr>
          <p:cNvPr id="5" name="Picture 4">
            <a:extLst>
              <a:ext uri="{FF2B5EF4-FFF2-40B4-BE49-F238E27FC236}">
                <a16:creationId xmlns:a16="http://schemas.microsoft.com/office/drawing/2014/main" id="{DBE4D419-94CA-028A-54B8-27923089B61D}"/>
              </a:ext>
            </a:extLst>
          </p:cNvPr>
          <p:cNvPicPr>
            <a:picLocks noChangeAspect="1"/>
          </p:cNvPicPr>
          <p:nvPr/>
        </p:nvPicPr>
        <p:blipFill>
          <a:blip r:embed="rId2"/>
          <a:stretch>
            <a:fillRect/>
          </a:stretch>
        </p:blipFill>
        <p:spPr>
          <a:xfrm>
            <a:off x="502920" y="856315"/>
            <a:ext cx="8735023" cy="547100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461665"/>
          </a:xfrm>
          <a:prstGeom prst="rect">
            <a:avLst/>
          </a:prstGeom>
          <a:noFill/>
        </p:spPr>
        <p:txBody>
          <a:bodyPr wrap="square">
            <a:spAutoFit/>
          </a:bodyPr>
          <a:lstStyle/>
          <a:p>
            <a:pPr algn="l">
              <a:defRPr sz="2400" b="1"/>
            </a:pPr>
            <a:r>
              <a:rPr dirty="0"/>
              <a:t>Chart 2 — Average Crop Yield by Season</a:t>
            </a:r>
          </a:p>
        </p:txBody>
      </p:sp>
      <p:pic>
        <p:nvPicPr>
          <p:cNvPr id="5" name="Picture 4">
            <a:extLst>
              <a:ext uri="{FF2B5EF4-FFF2-40B4-BE49-F238E27FC236}">
                <a16:creationId xmlns:a16="http://schemas.microsoft.com/office/drawing/2014/main" id="{04213610-F70A-4098-B7F6-24FFAB906E90}"/>
              </a:ext>
            </a:extLst>
          </p:cNvPr>
          <p:cNvPicPr>
            <a:picLocks noChangeAspect="1"/>
          </p:cNvPicPr>
          <p:nvPr/>
        </p:nvPicPr>
        <p:blipFill>
          <a:blip r:embed="rId2"/>
          <a:stretch>
            <a:fillRect/>
          </a:stretch>
        </p:blipFill>
        <p:spPr>
          <a:xfrm>
            <a:off x="595504" y="1195115"/>
            <a:ext cx="5326380" cy="3896269"/>
          </a:xfrm>
          <a:prstGeom prst="rect">
            <a:avLst/>
          </a:prstGeom>
        </p:spPr>
      </p:pic>
      <p:pic>
        <p:nvPicPr>
          <p:cNvPr id="7" name="Picture 6">
            <a:extLst>
              <a:ext uri="{FF2B5EF4-FFF2-40B4-BE49-F238E27FC236}">
                <a16:creationId xmlns:a16="http://schemas.microsoft.com/office/drawing/2014/main" id="{BC515874-7D9C-4BCC-0DA7-7075809D5202}"/>
              </a:ext>
            </a:extLst>
          </p:cNvPr>
          <p:cNvPicPr>
            <a:picLocks noChangeAspect="1"/>
          </p:cNvPicPr>
          <p:nvPr/>
        </p:nvPicPr>
        <p:blipFill>
          <a:blip r:embed="rId3"/>
          <a:stretch>
            <a:fillRect/>
          </a:stretch>
        </p:blipFill>
        <p:spPr>
          <a:xfrm>
            <a:off x="6270117" y="1195115"/>
            <a:ext cx="5706890" cy="407957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6784" y="228600"/>
            <a:ext cx="11155680" cy="502920"/>
          </a:xfrm>
          <a:prstGeom prst="rect">
            <a:avLst/>
          </a:prstGeom>
          <a:noFill/>
        </p:spPr>
        <p:txBody>
          <a:bodyPr wrap="none">
            <a:spAutoFit/>
          </a:bodyPr>
          <a:lstStyle/>
          <a:p>
            <a:pPr algn="l">
              <a:defRPr sz="2400" b="1"/>
            </a:pPr>
            <a:r>
              <a:rPr dirty="0"/>
              <a:t>Chart 3 — Average Resource Usage by Season</a:t>
            </a:r>
          </a:p>
        </p:txBody>
      </p:sp>
      <p:pic>
        <p:nvPicPr>
          <p:cNvPr id="5" name="Picture 4">
            <a:extLst>
              <a:ext uri="{FF2B5EF4-FFF2-40B4-BE49-F238E27FC236}">
                <a16:creationId xmlns:a16="http://schemas.microsoft.com/office/drawing/2014/main" id="{7D307F43-BB56-2281-A96D-1BBAD4296CE4}"/>
              </a:ext>
            </a:extLst>
          </p:cNvPr>
          <p:cNvPicPr>
            <a:picLocks noChangeAspect="1"/>
          </p:cNvPicPr>
          <p:nvPr/>
        </p:nvPicPr>
        <p:blipFill>
          <a:blip r:embed="rId2"/>
          <a:stretch>
            <a:fillRect/>
          </a:stretch>
        </p:blipFill>
        <p:spPr>
          <a:xfrm>
            <a:off x="502921" y="964408"/>
            <a:ext cx="4509950" cy="4929183"/>
          </a:xfrm>
          <a:prstGeom prst="rect">
            <a:avLst/>
          </a:prstGeom>
        </p:spPr>
      </p:pic>
      <p:pic>
        <p:nvPicPr>
          <p:cNvPr id="7" name="Picture 6">
            <a:extLst>
              <a:ext uri="{FF2B5EF4-FFF2-40B4-BE49-F238E27FC236}">
                <a16:creationId xmlns:a16="http://schemas.microsoft.com/office/drawing/2014/main" id="{85E0C547-B91C-346D-8EEA-BD8E8D81D986}"/>
              </a:ext>
            </a:extLst>
          </p:cNvPr>
          <p:cNvPicPr>
            <a:picLocks noChangeAspect="1"/>
          </p:cNvPicPr>
          <p:nvPr/>
        </p:nvPicPr>
        <p:blipFill>
          <a:blip r:embed="rId3"/>
          <a:stretch>
            <a:fillRect/>
          </a:stretch>
        </p:blipFill>
        <p:spPr>
          <a:xfrm>
            <a:off x="5110842" y="1112451"/>
            <a:ext cx="6996794" cy="355989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02920"/>
          </a:xfrm>
          <a:prstGeom prst="rect">
            <a:avLst/>
          </a:prstGeom>
          <a:noFill/>
        </p:spPr>
        <p:txBody>
          <a:bodyPr wrap="none">
            <a:spAutoFit/>
          </a:bodyPr>
          <a:lstStyle/>
          <a:p>
            <a:pPr algn="l">
              <a:defRPr sz="2400" b="1"/>
            </a:pPr>
            <a:r>
              <a:t>Chart 4 — Profit Distribution by Season</a:t>
            </a:r>
          </a:p>
        </p:txBody>
      </p:sp>
      <p:pic>
        <p:nvPicPr>
          <p:cNvPr id="5" name="Picture 4">
            <a:extLst>
              <a:ext uri="{FF2B5EF4-FFF2-40B4-BE49-F238E27FC236}">
                <a16:creationId xmlns:a16="http://schemas.microsoft.com/office/drawing/2014/main" id="{AE2F3C99-50C2-4B99-6217-4CCF86D44C64}"/>
              </a:ext>
            </a:extLst>
          </p:cNvPr>
          <p:cNvPicPr>
            <a:picLocks noChangeAspect="1"/>
          </p:cNvPicPr>
          <p:nvPr/>
        </p:nvPicPr>
        <p:blipFill>
          <a:blip r:embed="rId2"/>
          <a:stretch>
            <a:fillRect/>
          </a:stretch>
        </p:blipFill>
        <p:spPr>
          <a:xfrm>
            <a:off x="602634" y="870961"/>
            <a:ext cx="7757594" cy="511607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pPr algn="l">
              <a:defRPr sz="2200" b="1">
                <a:solidFill>
                  <a:srgbClr val="193153"/>
                </a:solidFill>
              </a:defRPr>
            </a:pPr>
            <a: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Rounded Rectangle 23"/>
          <p:cNvSpPr/>
          <p:nvPr/>
        </p:nvSpPr>
        <p:spPr>
          <a:xfrm>
            <a:off x="685800" y="1508760"/>
            <a:ext cx="5257800" cy="429768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6968" y="1673351"/>
            <a:ext cx="4855464" cy="411480"/>
          </a:xfrm>
          <a:prstGeom prst="rect">
            <a:avLst/>
          </a:prstGeom>
          <a:noFill/>
        </p:spPr>
        <p:txBody>
          <a:bodyPr wrap="none">
            <a:spAutoFit/>
          </a:bodyPr>
          <a:lstStyle/>
          <a:p>
            <a:pPr algn="l">
              <a:defRPr sz="1700" b="1">
                <a:solidFill>
                  <a:srgbClr val="193153"/>
                </a:solidFill>
              </a:defRPr>
            </a:pPr>
            <a:r>
              <a:t>Advanced Analytics</a:t>
            </a:r>
          </a:p>
        </p:txBody>
      </p:sp>
      <p:sp>
        <p:nvSpPr>
          <p:cNvPr id="26" name="TextBox 25"/>
          <p:cNvSpPr txBox="1"/>
          <p:nvPr/>
        </p:nvSpPr>
        <p:spPr>
          <a:xfrm>
            <a:off x="914400" y="2194560"/>
            <a:ext cx="4800600" cy="3474720"/>
          </a:xfrm>
          <a:prstGeom prst="rect">
            <a:avLst/>
          </a:prstGeom>
          <a:noFill/>
        </p:spPr>
        <p:txBody>
          <a:bodyPr wrap="square">
            <a:spAutoFit/>
          </a:bodyPr>
          <a:lstStyle/>
          <a:p>
            <a:pPr>
              <a:spcAft>
                <a:spcPts val="900"/>
              </a:spcAft>
              <a:defRPr sz="1350">
                <a:solidFill>
                  <a:srgbClr val="373D44"/>
                </a:solidFill>
              </a:defRPr>
            </a:pPr>
            <a:r>
              <a:t>Predictive models for yield and profitability.</a:t>
            </a:r>
          </a:p>
          <a:p>
            <a:pPr>
              <a:spcAft>
                <a:spcPts val="900"/>
              </a:spcAft>
              <a:defRPr sz="1350">
                <a:solidFill>
                  <a:srgbClr val="373D44"/>
                </a:solidFill>
              </a:defRPr>
            </a:pPr>
            <a:r>
              <a:t>Crop- and region-specific recommendation systems.</a:t>
            </a:r>
          </a:p>
          <a:p>
            <a:pPr>
              <a:spcAft>
                <a:spcPts val="900"/>
              </a:spcAft>
              <a:defRPr sz="1350">
                <a:solidFill>
                  <a:srgbClr val="373D44"/>
                </a:solidFill>
              </a:defRPr>
            </a:pPr>
            <a:r>
              <a:t>Time-series analysis using multi-year agricultural data.</a:t>
            </a:r>
          </a:p>
        </p:txBody>
      </p:sp>
      <p:sp>
        <p:nvSpPr>
          <p:cNvPr id="27" name="Rounded Rectangle 26"/>
          <p:cNvSpPr/>
          <p:nvPr/>
        </p:nvSpPr>
        <p:spPr>
          <a:xfrm>
            <a:off x="6217920" y="1508760"/>
            <a:ext cx="5257800" cy="429768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19088" y="1673351"/>
            <a:ext cx="4855464" cy="411480"/>
          </a:xfrm>
          <a:prstGeom prst="rect">
            <a:avLst/>
          </a:prstGeom>
          <a:noFill/>
        </p:spPr>
        <p:txBody>
          <a:bodyPr wrap="none">
            <a:spAutoFit/>
          </a:bodyPr>
          <a:lstStyle/>
          <a:p>
            <a:pPr algn="l">
              <a:defRPr sz="1700" b="1">
                <a:solidFill>
                  <a:srgbClr val="193153"/>
                </a:solidFill>
              </a:defRPr>
            </a:pPr>
            <a:r>
              <a:t>Decision Support</a:t>
            </a:r>
          </a:p>
        </p:txBody>
      </p:sp>
      <p:sp>
        <p:nvSpPr>
          <p:cNvPr id="29" name="TextBox 28"/>
          <p:cNvSpPr txBox="1"/>
          <p:nvPr/>
        </p:nvSpPr>
        <p:spPr>
          <a:xfrm>
            <a:off x="6446520" y="2194560"/>
            <a:ext cx="4800600" cy="3474720"/>
          </a:xfrm>
          <a:prstGeom prst="rect">
            <a:avLst/>
          </a:prstGeom>
          <a:noFill/>
        </p:spPr>
        <p:txBody>
          <a:bodyPr wrap="square">
            <a:spAutoFit/>
          </a:bodyPr>
          <a:lstStyle/>
          <a:p>
            <a:pPr>
              <a:spcAft>
                <a:spcPts val="900"/>
              </a:spcAft>
              <a:defRPr sz="1350">
                <a:solidFill>
                  <a:srgbClr val="373D44"/>
                </a:solidFill>
              </a:defRPr>
            </a:pPr>
            <a:r>
              <a:t>Geospatial mapping of district/state performance.</a:t>
            </a:r>
          </a:p>
          <a:p>
            <a:pPr>
              <a:spcAft>
                <a:spcPts val="900"/>
              </a:spcAft>
              <a:defRPr sz="1350">
                <a:solidFill>
                  <a:srgbClr val="373D44"/>
                </a:solidFill>
              </a:defRPr>
            </a:pPr>
            <a:r>
              <a:t>Integration of weather forecasts and real-time farm data.</a:t>
            </a:r>
          </a:p>
          <a:p>
            <a:pPr>
              <a:spcAft>
                <a:spcPts val="900"/>
              </a:spcAft>
              <a:defRPr sz="1350">
                <a:solidFill>
                  <a:srgbClr val="373D44"/>
                </a:solidFill>
              </a:defRPr>
            </a:pPr>
            <a:r>
              <a:t>Interactive dashboard for farmers and agricultural planners.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1545685" y="1295118"/>
            <a:ext cx="7232875" cy="830997"/>
          </a:xfrm>
          <a:prstGeom prst="rect">
            <a:avLst/>
          </a:prstGeom>
          <a:noFill/>
        </p:spPr>
        <p:txBody>
          <a:bodyPr wrap="square">
            <a:spAutoFit/>
          </a:bodyPr>
          <a:lstStyle/>
          <a:p>
            <a:r>
              <a:rPr lang="en-US" sz="2400" i="1" u="sng" dirty="0"/>
              <a:t>https://github.com/Damon00007/Seasonal-Agriculture-Performance-Analysis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8E8BCDF-BBF1-AC46-564F-0E5EAEF7DC21}"/>
              </a:ext>
            </a:extLst>
          </p:cNvPr>
          <p:cNvPicPr>
            <a:picLocks noChangeAspect="1"/>
          </p:cNvPicPr>
          <p:nvPr/>
        </p:nvPicPr>
        <p:blipFill>
          <a:blip r:embed="rId3"/>
          <a:stretch>
            <a:fillRect/>
          </a:stretch>
        </p:blipFill>
        <p:spPr>
          <a:xfrm>
            <a:off x="1167491" y="1702253"/>
            <a:ext cx="7511143" cy="393926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647699"/>
            <a:ext cx="11340000" cy="1431651"/>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2645229"/>
            <a:ext cx="6838458" cy="1661656"/>
          </a:xfrm>
        </p:spPr>
        <p:txBody>
          <a:bodyPr>
            <a:noAutofit/>
          </a:bodyPr>
          <a:lstStyle/>
          <a:p>
            <a:r>
              <a:rPr lang="en-IN" sz="2800" dirty="0"/>
              <a:t>Thanking You For Your Time And Attention.</a:t>
            </a:r>
          </a:p>
          <a:p>
            <a:r>
              <a:rPr lang="en-IN" sz="2800" dirty="0"/>
              <a:t>Questions &amp; Discussions</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1396</TotalTime>
  <Words>688</Words>
  <Application>Microsoft Office PowerPoint</Application>
  <PresentationFormat>Widescreen</PresentationFormat>
  <Paragraphs>85</Paragraphs>
  <Slides>20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CIDFont+F3</vt:lpstr>
      <vt:lpstr>Trebuchet MS</vt:lpstr>
      <vt:lpstr>Wingdings</vt:lpstr>
      <vt:lpstr>Wingdings 3</vt:lpstr>
      <vt:lpstr>Facet</vt:lpstr>
      <vt:lpstr>Project Title -Seasonal Agriculture Performance Analysis</vt:lpstr>
      <vt:lpstr>PROBLEM  STATEMENT</vt:lpstr>
      <vt:lpstr>Project Description  Seasonal Agriculture Performance Analysis uses a 4,000-row, 28-column agricultural dataset to study how farm performance changes across Kharif, Rabi and Zaid seasons. The project combines yield, production, revenue, cost, profit, environmental conditions, crop patterns and resource usage. Exploratory analysis, grouped comparisons, correlations, outlier analysis and statistical tests are used to identify meaningful patterns and support data-driven agricultural planning.</vt:lpstr>
      <vt:lpstr>WHO ARE THE END USERS?</vt:lpstr>
      <vt:lpstr>Technology Used</vt:lpstr>
      <vt:lpstr>PowerPoint Presentation</vt:lpstr>
      <vt:lpstr>PowerPoint Presentation</vt:lpstr>
      <vt:lpstr>PowerPoint Presentation</vt:lpstr>
      <vt:lpstr>RESULTS </vt:lpstr>
      <vt:lpstr>RESULTS </vt:lpstr>
      <vt:lpstr>RESULTS </vt:lpstr>
      <vt:lpstr>RESULTS </vt:lpstr>
      <vt:lpstr>PowerPoint Presentation</vt:lpstr>
      <vt:lpstr>PowerPoint Presentation</vt:lpstr>
      <vt:lpstr>PowerPoint Presentation</vt:lpstr>
      <vt:lpstr>PowerPoint Presentation</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Pawan Tiwari</cp:lastModifiedBy>
  <cp:revision>105</cp:revision>
  <dcterms:created xsi:type="dcterms:W3CDTF">2021-07-11T13:13:15Z</dcterms:created>
  <dcterms:modified xsi:type="dcterms:W3CDTF">2026-09-17T23:21:33Z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